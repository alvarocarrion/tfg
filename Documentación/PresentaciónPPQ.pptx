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72" r:id="rId4"/>
    <p:sldId id="260" r:id="rId5"/>
    <p:sldId id="261" r:id="rId6"/>
    <p:sldId id="265" r:id="rId7"/>
    <p:sldId id="266" r:id="rId8"/>
    <p:sldId id="262" r:id="rId9"/>
    <p:sldId id="264" r:id="rId10"/>
    <p:sldId id="267" r:id="rId11"/>
    <p:sldId id="268" r:id="rId12"/>
    <p:sldId id="269" r:id="rId13"/>
    <p:sldId id="270" r:id="rId14"/>
    <p:sldId id="275" r:id="rId15"/>
    <p:sldId id="276" r:id="rId16"/>
    <p:sldId id="271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31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621" autoAdjust="0"/>
  </p:normalViewPr>
  <p:slideViewPr>
    <p:cSldViewPr snapToGrid="0">
      <p:cViewPr>
        <p:scale>
          <a:sx n="75" d="100"/>
          <a:sy n="75" d="100"/>
        </p:scale>
        <p:origin x="1950" y="5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71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727C1F7-4F1E-2B9B-1CF3-D6BC137D5A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BBFE95D-4E8F-4B46-B2C2-BC08C1EE57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C592F-D9BC-4870-AEEE-319299623997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1269A3-1522-A44D-C6CB-D840B0527C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2F2907-4072-EB8E-986E-C9C26E3A1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E4828-CDF2-4613-8F16-2319DB1E54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2987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826E4-C027-4EA1-B286-3A72A5AA184A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F51C7-0F91-4384-A9C0-6D97C4B941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2553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2D6F-4C5B-426F-BD90-B508B0BA2970}" type="datetime1">
              <a:rPr lang="es-ES" smtClean="0"/>
              <a:t>15/03/2026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0103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3E54F-411A-4A6E-8D05-B372BC62E0D3}" type="datetime1">
              <a:rPr lang="es-ES" smtClean="0"/>
              <a:t>15/03/2026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709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57315-88FF-4C0D-A58C-078CDB6D98A0}" type="datetime1">
              <a:rPr lang="es-ES" smtClean="0"/>
              <a:t>15/03/2026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2188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F868-2ECB-40EF-8488-F1AFD2BE2CD2}" type="datetime1">
              <a:rPr lang="es-ES" smtClean="0"/>
              <a:t>15/03/2026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586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B5BF2-9F03-4DFD-AC90-40B88951794C}" type="datetime1">
              <a:rPr lang="es-ES" smtClean="0"/>
              <a:t>15/03/2026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580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B5C08-A97F-4CAE-BADD-4ED65B4C50CE}" type="datetime1">
              <a:rPr lang="es-ES" smtClean="0"/>
              <a:t>15/03/2026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451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9290-8690-4141-AF6A-94203B6CB070}" type="datetime1">
              <a:rPr lang="es-ES" smtClean="0"/>
              <a:t>15/03/2026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547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320E-963D-48F3-9518-69182729447C}" type="datetime1">
              <a:rPr lang="es-ES" smtClean="0"/>
              <a:t>15/03/2026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716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7F64-21C9-4D34-96B1-4FA742FF950C}" type="datetime1">
              <a:rPr lang="es-ES" smtClean="0"/>
              <a:t>15/03/2026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568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B0D61-ABAB-4393-B661-C9F0FC76D026}" type="datetime1">
              <a:rPr lang="es-ES" smtClean="0"/>
              <a:t>15/03/2026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6638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825D-E0CB-4AC6-983E-1893DF9AA270}" type="datetime1">
              <a:rPr lang="es-ES" smtClean="0"/>
              <a:t>15/03/2026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8686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C063-AC99-4D2C-B992-B8D992375AB1}" type="datetime1">
              <a:rPr lang="es-ES" smtClean="0"/>
              <a:t>15/03/2026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4947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06EC-0D02-4650-8A76-D6F031C84C5B}" type="datetime1">
              <a:rPr lang="es-ES" smtClean="0"/>
              <a:t>15/03/2026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5437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EF054-4EA6-4532-836A-6234CCB8FB66}" type="datetime1">
              <a:rPr lang="es-ES" smtClean="0"/>
              <a:t>15/03/2026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7586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28D8-3082-4827-BE46-9BD17DE02013}" type="datetime1">
              <a:rPr lang="es-ES" smtClean="0"/>
              <a:t>15/03/2026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3324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3CFDF-2E5B-499A-8DCE-CC76596EBCF1}" type="datetime1">
              <a:rPr lang="es-ES" smtClean="0"/>
              <a:t>15/03/2026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0459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A3BE-F7D7-4909-A989-2878F8CE6A5A}" type="datetime1">
              <a:rPr lang="es-ES" smtClean="0"/>
              <a:t>15/03/2026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39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4D8A869-8FBA-4D76-B086-3A5CB1F9EC5C}" type="datetime1">
              <a:rPr lang="es-ES" smtClean="0"/>
              <a:t>15/03/2026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s-ES"/>
              <a:t>Álvaro Carrión Iniesta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2DA5E44-6627-4623-BFDC-754AA7CDC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97561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A43EAC6-6E3E-C9F4-AAA3-3CE7E8459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26" b="29428"/>
          <a:stretch>
            <a:fillRect/>
          </a:stretch>
        </p:blipFill>
        <p:spPr>
          <a:xfrm>
            <a:off x="3064163" y="2918685"/>
            <a:ext cx="6063673" cy="376070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FE351CA-EB74-3D90-F586-A6E998958D5B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A0B4B1F-A880-5E41-1211-D3FE6B77BBE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51A64AC-73C7-38E9-4EA3-0200ABA27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5" b="73334"/>
          <a:stretch>
            <a:fillRect/>
          </a:stretch>
        </p:blipFill>
        <p:spPr>
          <a:xfrm>
            <a:off x="2438399" y="507998"/>
            <a:ext cx="7315202" cy="177338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02130D9-5AC8-4661-A4AC-E671C70AC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61" b="20135"/>
          <a:stretch>
            <a:fillRect/>
          </a:stretch>
        </p:blipFill>
        <p:spPr>
          <a:xfrm>
            <a:off x="3809999" y="2213407"/>
            <a:ext cx="4572000" cy="51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5912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CA48AA92-03FF-F65D-37F0-11487E66AA4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23E452E-6641-113C-1F48-946A3897513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1A91D7A-8804-52D8-7F14-D694EC704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5F48FA0-7F11-24D2-B315-D040C349FA91}"/>
              </a:ext>
            </a:extLst>
          </p:cNvPr>
          <p:cNvSpPr txBox="1"/>
          <p:nvPr/>
        </p:nvSpPr>
        <p:spPr>
          <a:xfrm>
            <a:off x="838199" y="1690687"/>
            <a:ext cx="10515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Pole Position Quiz es una aplicación multiplataforma basada en el género de aplicaciones de tipo trivia tematizada en el mundo de Formula 1.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0B242E-A975-815D-C8DA-FCEA3575811F}"/>
              </a:ext>
            </a:extLst>
          </p:cNvPr>
          <p:cNvSpPr txBox="1"/>
          <p:nvPr/>
        </p:nvSpPr>
        <p:spPr>
          <a:xfrm>
            <a:off x="838200" y="2337018"/>
            <a:ext cx="10515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La aplicación tiene como objetivo combinar entretenimiento y aprendizaje mediante preguntas relacionadas con el deporte.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5D92BC-D106-F1A5-0429-5887B714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185C74E-702C-E464-E6D5-827A7E21FE61}"/>
              </a:ext>
            </a:extLst>
          </p:cNvPr>
          <p:cNvSpPr txBox="1"/>
          <p:nvPr/>
        </p:nvSpPr>
        <p:spPr>
          <a:xfrm>
            <a:off x="838199" y="2967335"/>
            <a:ext cx="10515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Basada en el modelo MVVM, se utilizan C# y .NET MAUI para la aplicación de sobremesa y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Kotlin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y Java para dispositivos Android.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17C236E-E821-65D5-5C39-02C69B4671EA}"/>
              </a:ext>
            </a:extLst>
          </p:cNvPr>
          <p:cNvSpPr txBox="1"/>
          <p:nvPr/>
        </p:nvSpPr>
        <p:spPr>
          <a:xfrm>
            <a:off x="838199" y="3609136"/>
            <a:ext cx="10515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Para la persistencia de información, se han utilizado las bases de datos MongoDB Atlas y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Firebase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Realtime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Database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34F9543-637D-9944-CD8A-C8BCFE981B28}"/>
              </a:ext>
            </a:extLst>
          </p:cNvPr>
          <p:cNvSpPr txBox="1"/>
          <p:nvPr/>
        </p:nvSpPr>
        <p:spPr>
          <a:xfrm>
            <a:off x="838198" y="4711390"/>
            <a:ext cx="10515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El proyecto demuestra mis competencias en el desarrollo de aplicaciones multiplataforma modernas y mi capacidad para aplicar los conocimientos adquiridos durante el ciclo formativo en una solución práctica y educativa.</a:t>
            </a:r>
          </a:p>
        </p:txBody>
      </p:sp>
    </p:spTree>
    <p:extLst>
      <p:ext uri="{BB962C8B-B14F-4D97-AF65-F5344CB8AC3E}">
        <p14:creationId xmlns:p14="http://schemas.microsoft.com/office/powerpoint/2010/main" val="204451356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86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111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312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213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C3BE4-24CB-5E2D-07A4-6612D2D3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F3C2850E-E47A-55DA-D873-CE621152C98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E7C7C02-2C7A-0D30-AE18-FB1181557AF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EADE3DB-AFFB-D3C7-A17A-91966949346C}"/>
              </a:ext>
            </a:extLst>
          </p:cNvPr>
          <p:cNvSpPr txBox="1"/>
          <p:nvPr/>
        </p:nvSpPr>
        <p:spPr>
          <a:xfrm>
            <a:off x="838200" y="2420942"/>
            <a:ext cx="10515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Especialización temática y experiencia inmersiva.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Modo multijugador competitivo.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Contenido actualizado y gestión profesional.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Enfoque educativo y estadísticas personalizadas.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Diseño y accesibilidad multiplataforma.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0433E42-2BF1-78C6-0583-1441E2A4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D069CE14-97D1-F385-61B1-1B06FEC40DD2}"/>
              </a:ext>
            </a:extLst>
          </p:cNvPr>
          <p:cNvSpPr txBox="1">
            <a:spLocks/>
          </p:cNvSpPr>
          <p:nvPr/>
        </p:nvSpPr>
        <p:spPr>
          <a:xfrm>
            <a:off x="838200" y="1767684"/>
            <a:ext cx="8582891" cy="5762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¿Por qué es diferente?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B253AC-5054-C33B-2EC9-9E4358997F86}"/>
              </a:ext>
            </a:extLst>
          </p:cNvPr>
          <p:cNvSpPr txBox="1"/>
          <p:nvPr/>
        </p:nvSpPr>
        <p:spPr>
          <a:xfrm>
            <a:off x="838200" y="4013150"/>
            <a:ext cx="10515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El mercado actual muestra aplicaciones de trivia consolidadas y proveedores oficiales de contenidos F1 que ofrecen personalización y noticias.</a:t>
            </a:r>
          </a:p>
          <a:p>
            <a:pPr algn="just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No obstante, existe un espacio para una aplicación temática, competitiva y mantenible que combine inmersión visual, multijugador competitivo sincronizado, estadísticas personalizadas y administración centralizada del contenido. </a:t>
            </a:r>
          </a:p>
          <a:p>
            <a:pPr algn="just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Pole Position Quiz aprovecha este nicho, la especialización en Fórmula 1, la propuesta de experiencia de circuito y la arquitectura técnica orientada a la actualización continua constituyen ventajas diferenciadoras respecto a otras alternativas.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AA95D8C5-A13D-5DFF-779C-CF510B86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Valor Aportado</a:t>
            </a:r>
          </a:p>
        </p:txBody>
      </p:sp>
    </p:spTree>
    <p:extLst>
      <p:ext uri="{BB962C8B-B14F-4D97-AF65-F5344CB8AC3E}">
        <p14:creationId xmlns:p14="http://schemas.microsoft.com/office/powerpoint/2010/main" val="378057955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916A433-51DD-EDFD-5B59-27EF6EB4CCF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D736961-9587-2825-CCF0-55A7400E11A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D175F1-D285-DDE1-3D23-FA41C5D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8" y="2478881"/>
            <a:ext cx="5257799" cy="576262"/>
          </a:xfrm>
        </p:spPr>
        <p:txBody>
          <a:bodyPr/>
          <a:lstStyle/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Objetivos Generales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8993A9-D75A-BAB5-BE1A-97F115CB3507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38198" y="3197006"/>
            <a:ext cx="5257801" cy="3159344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Diseñar una interfaz gráfica intuitiva, atractiva y temática.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Desarrollar un módulo de autenticación que permita el registro y acceso de usuarios.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Programar la lógica de las aplicaciones utilizando el patrón MVVM.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Configuración y manejo de bases de datos en tiempo real NoSQL destinadas a la persistencia de información.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Implementar un sistema de juego basado en preguntas clasificadas por dificultad y categorías.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Integrar un modo multijugador en red local.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Generara un sistema de puntuación y estadísticas.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DF4C76-A503-E780-5849-EBC2BF7E5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5998" y="2478881"/>
            <a:ext cx="5257800" cy="576262"/>
          </a:xfrm>
        </p:spPr>
        <p:txBody>
          <a:bodyPr/>
          <a:lstStyle/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Objetivos Específicos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46DDD34-8732-EC6E-CFC7-8329A77D781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095998" y="3197006"/>
            <a:ext cx="5257800" cy="3159344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Diseñar una estructura para archivos JSON para le manejo de información en bases de datos NoSQL.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Desarrollar una clase 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GlobalData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para almacenar y compartir información esencial que necesita ser accesible desde cualquier parte de la aplicación.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Una clase 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DatabaseClass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que controle métodos CRUD junto con el servicio MongoDB Atlas.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Crear roles para los usuarios, como 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superadmin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, 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admin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y 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user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Crear vistas personalizadas para las funciones que puede desarrollar el usuario.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5464D86-4F06-B26B-90C0-00CA146D0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Álvaro Carrión Iniesta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EDF8943-8605-1F18-3688-ECA734F7D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1. Objetivos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6A2B1C0-17B2-CD58-DB35-7A59F89D496A}"/>
              </a:ext>
            </a:extLst>
          </p:cNvPr>
          <p:cNvSpPr txBox="1"/>
          <p:nvPr/>
        </p:nvSpPr>
        <p:spPr>
          <a:xfrm>
            <a:off x="838199" y="1761618"/>
            <a:ext cx="10515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El objetivo general es desarrollar una aplicación de tipo trivia tematizada, combinando entretenimiento y aprendizaje. A partir de este objetivo, se plantean los siguientes objetivos específicos:</a:t>
            </a:r>
          </a:p>
        </p:txBody>
      </p:sp>
    </p:spTree>
    <p:extLst>
      <p:ext uri="{BB962C8B-B14F-4D97-AF65-F5344CB8AC3E}">
        <p14:creationId xmlns:p14="http://schemas.microsoft.com/office/powerpoint/2010/main" val="366593111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41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91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6" grpId="0" uiExpand="1" build="p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B6BC-260A-52F0-30AC-0BAB062C8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214AB4BC-9165-A04C-745D-8F5ADDB91A5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882F5D9-9D17-64B0-DECC-2FBAA586742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FFE09CA-010D-F707-37E9-4F1694F41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2. Desarrollo del Trabajo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ADFF3CC6-C93B-0C6D-8296-FAF177B7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Álvaro Carrión Iniesta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4CD9F0AC-9F07-24FE-C3EB-4E871C1B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690688"/>
            <a:ext cx="5257799" cy="576262"/>
          </a:xfrm>
        </p:spPr>
        <p:txBody>
          <a:bodyPr/>
          <a:lstStyle/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Tecnologías y Herramientas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CCF56780-79E6-7F2E-E56E-5080C407E64B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38201" y="2408813"/>
            <a:ext cx="5257801" cy="3159344"/>
          </a:xfrm>
        </p:spPr>
        <p:txBody>
          <a:bodyPr>
            <a:normAutofit lnSpcReduction="1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GitHub para el control de versiones.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Visual Studio 2022 para el desarrollo del código para la aplicación de Windows.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Android Studio para el desarrollo del código para la aplicación de Android.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Será necesario un instalador MSIX para dispositivos Windows y APK para dispositivos Android.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Para el manejo de información y persistencia, se han utilizado las bases de datos MongoDB Atlas y 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Firebase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Realtime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Database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La comunicación con la base de datos desde la aplicación de escritorio se establece de manera directa a través de una clase dedicada a la gestión de las operaciones CRUD en MongoDB.</a:t>
            </a:r>
          </a:p>
        </p:txBody>
      </p:sp>
      <p:sp>
        <p:nvSpPr>
          <p:cNvPr id="23" name="Marcador de texto 4">
            <a:extLst>
              <a:ext uri="{FF2B5EF4-FFF2-40B4-BE49-F238E27FC236}">
                <a16:creationId xmlns:a16="http://schemas.microsoft.com/office/drawing/2014/main" id="{2A7777CA-9807-EE9D-BA9A-EACC8310D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1" y="1690688"/>
            <a:ext cx="5257800" cy="576262"/>
          </a:xfrm>
        </p:spPr>
        <p:txBody>
          <a:bodyPr/>
          <a:lstStyle/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Metodología</a:t>
            </a:r>
          </a:p>
        </p:txBody>
      </p:sp>
      <p:sp>
        <p:nvSpPr>
          <p:cNvPr id="24" name="Marcador de texto 5">
            <a:extLst>
              <a:ext uri="{FF2B5EF4-FFF2-40B4-BE49-F238E27FC236}">
                <a16:creationId xmlns:a16="http://schemas.microsoft.com/office/drawing/2014/main" id="{8BC89E67-D07E-85CC-BDFE-E87B0F67C1FE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096001" y="2408813"/>
            <a:ext cx="5257800" cy="3159344"/>
          </a:xfrm>
        </p:spPr>
        <p:txBody>
          <a:bodyPr/>
          <a:lstStyle/>
          <a:p>
            <a:pPr algn="just"/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Para el desarrollo de este TFG se ha optado por una metodología de trabajo híbrida entre la metodología Scrum y 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Waterfall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. Esta metodología permite la robustez de una planificación inicial detallada con la flexibilidad necesaria durante la programación de aplicaciones multiplataforma, donde surgen retos técnicos imprevistos.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Planificación robusta y rigor académico (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Waterfall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Desarrollo iterativo de funcionalidades (Scrum)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Gestión de dos entornos tecnológicos diferentes (Scrum)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Control de entregables y plazos (Scrum y 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Waterfall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194948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 build="p"/>
      <p:bldP spid="22" grpId="0" uiExpand="1" build="p"/>
      <p:bldP spid="23" grpId="0" build="p"/>
      <p:bldP spid="2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6736-7281-A4AA-6932-4F63317D7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4AE92797-BD49-0F8E-27A8-649FF0963CF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EB54CC5-D112-85A4-EDA5-A4E3CCFE7A4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AB0EB27-010D-A560-DED5-1FE862C6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3. Diagrama de Casos de Uso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F5925AF9-C286-7C40-D259-ED2904DEA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Álvaro Carrión Iniesta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F228BC-2231-EEDB-2269-43E4297B6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7684"/>
            <a:ext cx="5257799" cy="576262"/>
          </a:xfrm>
        </p:spPr>
        <p:txBody>
          <a:bodyPr/>
          <a:lstStyle/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Actores Principales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E6EB683D-BE0D-F937-E492-B94EAEA3A872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38200" y="2485809"/>
            <a:ext cx="5257801" cy="3159344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Usuario</a:t>
            </a:r>
          </a:p>
          <a:p>
            <a:pPr algn="just"/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Representa a la persona que utiliza la aplicación, ya sea para jugar, consultar estadísticas, registrarse…</a:t>
            </a:r>
          </a:p>
          <a:p>
            <a:pPr algn="just"/>
            <a:endParaRPr lang="es-E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eato Display" panose="020B050300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Superadministrador / Administrador</a:t>
            </a:r>
          </a:p>
          <a:p>
            <a:pPr algn="just"/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Encargado de gestionar preguntas, supervisar usuarios y mantener la base de datos actualizada.</a:t>
            </a:r>
          </a:p>
          <a:p>
            <a:pPr algn="just"/>
            <a:endParaRPr lang="es-E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eato Display" panose="020B050300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Sistema</a:t>
            </a:r>
          </a:p>
          <a:p>
            <a:pPr algn="just"/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Actor interno que gestiona la lógica del juego, conexiones, validaciones, estadísticas….</a:t>
            </a:r>
          </a:p>
        </p:txBody>
      </p:sp>
      <p:pic>
        <p:nvPicPr>
          <p:cNvPr id="1026" name="Picture 2" descr="User - Free people icons">
            <a:extLst>
              <a:ext uri="{FF2B5EF4-FFF2-40B4-BE49-F238E27FC236}">
                <a16:creationId xmlns:a16="http://schemas.microsoft.com/office/drawing/2014/main" id="{4D8C9804-1BB8-B16C-B239-C5AEE1EED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5680" y="1939707"/>
            <a:ext cx="1476805" cy="147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dministrador de pc - Iconos gratis de personas">
            <a:extLst>
              <a:ext uri="{FF2B5EF4-FFF2-40B4-BE49-F238E27FC236}">
                <a16:creationId xmlns:a16="http://schemas.microsoft.com/office/drawing/2014/main" id="{8C993AAA-EF7E-3D19-D547-86982FF3C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5359" y="2888014"/>
            <a:ext cx="1476805" cy="147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istema - Iconos gratis de computadora">
            <a:extLst>
              <a:ext uri="{FF2B5EF4-FFF2-40B4-BE49-F238E27FC236}">
                <a16:creationId xmlns:a16="http://schemas.microsoft.com/office/drawing/2014/main" id="{5F8E26A5-A0C8-1B21-F602-CD356147C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130" y="4207599"/>
            <a:ext cx="1555171" cy="1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08004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6CEB0-2062-7ECA-4B4A-B83D79E4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8211987-A112-FD08-B8AE-ABE4F041559C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E25978D-704E-291C-FEEA-9D427EDA5F4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63DBF16-37ED-80CE-2764-1B50360F0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3. Diagrama de Casos de Uso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690A679F-B024-68FF-B5DC-4BD105CD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Álvaro Carrión Iniesta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891E1-F0A2-E1CC-9BBF-C0865E06A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7684"/>
            <a:ext cx="5257799" cy="576262"/>
          </a:xfrm>
        </p:spPr>
        <p:txBody>
          <a:bodyPr/>
          <a:lstStyle/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Casos de uso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229F43F6-7EFA-72D8-8DF8-C2A91795B358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38200" y="2420941"/>
            <a:ext cx="3556575" cy="3933337"/>
          </a:xfrm>
        </p:spPr>
        <p:txBody>
          <a:bodyPr>
            <a:normAutofit fontScale="625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Usuario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s-ES" sz="2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Registrarse: Crear una nueva cuenta con email, nombre de usuario y contraseña.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s-ES" sz="2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Iniciar sesión: Acceder a la aplicación con sus credenciales.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s-ES" sz="2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Jugar partida individual: Responder cuestionarios sobre circuitos o pilotos de forma “</a:t>
            </a:r>
            <a:r>
              <a:rPr lang="es-ES" sz="2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singleplayer</a:t>
            </a:r>
            <a:r>
              <a:rPr lang="es-ES" sz="2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”.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s-ES" sz="2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Jugar partida multijugador: Competir con otro usuario en línea en tiempo real.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s-ES" sz="2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Responder pregunta: Seleccionar una respuesta entre cuatro opciones.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s-ES" sz="2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Consultar estadísticas personales: Ver sus resultados, porcentaje de aciertos y victorias.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s-ES" sz="2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Cerrar sesión: Salir de la cuenta activa.</a:t>
            </a:r>
          </a:p>
          <a:p>
            <a:pPr algn="just"/>
            <a:endParaRPr lang="es-E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eato Display" panose="020B0503000000020004" pitchFamily="34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22D758-8091-7898-6D94-B3AAC3B05BEF}"/>
              </a:ext>
            </a:extLst>
          </p:cNvPr>
          <p:cNvSpPr txBox="1">
            <a:spLocks/>
          </p:cNvSpPr>
          <p:nvPr/>
        </p:nvSpPr>
        <p:spPr>
          <a:xfrm>
            <a:off x="4394775" y="2423013"/>
            <a:ext cx="3402447" cy="3933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Superadministrador / Administrador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Consultar usuarios: ver los usuarios existentes y algunas características de sus perfiles.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Crear usuarios: agregar usuarios nuevos a la base de datos.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Editar usuarios: modificar usuarios existentes en la base de datos.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Eliminar usuarios: borrar usuarios de la base de datos.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Banear usuarios: cesar la actividad de un usuario.</a:t>
            </a:r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B59279DC-57FC-456D-301E-419527D4BCA6}"/>
              </a:ext>
            </a:extLst>
          </p:cNvPr>
          <p:cNvSpPr txBox="1">
            <a:spLocks/>
          </p:cNvSpPr>
          <p:nvPr/>
        </p:nvSpPr>
        <p:spPr>
          <a:xfrm>
            <a:off x="7797222" y="2420941"/>
            <a:ext cx="3556575" cy="3746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Sistema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Validar respuestas: Comprobar si la respuesta seleccionada es correcta.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Actualizar estadísticas: Modificar los datos de rendimiento del jugador tras cada partida.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Determinar ganador: Calcular el jugador con mayor puntuación al finalizar la partida.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s-E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eato Display" panose="020B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07929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  <p:bldP spid="4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5586A-56B8-5069-DDE7-6C3A265E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35EDF02B-2F14-CE23-AD29-FB6B948314C1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EC0744F-DB9B-070C-8947-FFFFB3F3905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2DB1486-FFCC-D252-857A-E76A9179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3. Diagrama de Casos de Uso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BBBFDF86-CB06-EAC5-12D4-0A1BA88B2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Álvaro Carrión Iniesta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3EBB422-016C-8709-1A3D-1F591544E299}"/>
              </a:ext>
            </a:extLst>
          </p:cNvPr>
          <p:cNvSpPr txBox="1"/>
          <p:nvPr/>
        </p:nvSpPr>
        <p:spPr>
          <a:xfrm>
            <a:off x="838199" y="1690687"/>
            <a:ext cx="52578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El diagrama de casos de uso tiene como objetivo representar de forma clara y estructurada las distintas interacciones que se producen entre los usuarios y la aplicación.</a:t>
            </a:r>
          </a:p>
          <a:p>
            <a:pPr algn="just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 través de este diagrama se identifican los actores principales del sistema y las funcionalidades a las que pueden acceder, permitiendo comprender el comportamiento general de la aplicación desde el punto de vista del usuario y de la administración.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6D26B9-F551-ED56-CF39-C1F7032BC29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528" y="1690688"/>
            <a:ext cx="4301924" cy="452913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478235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801"/>
                            </p:stCondLst>
                            <p:childTnLst>
                              <p:par>
                                <p:cTn id="1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6559D-6662-6834-2ACC-833CE6EBF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9BF4BF09-41C5-1795-2B8F-0C898447800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59D7557-6A8B-7998-9541-0F307FF6C0F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15ADF21-8757-5342-F53C-11D815744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4. Diseño de la Base de Datos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C26B6C9-ADD8-42E4-DB6C-B0266B45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Álvaro Carrión Iniesta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3938D94-CBDC-4395-3D47-CCE5A9EF1B38}"/>
              </a:ext>
            </a:extLst>
          </p:cNvPr>
          <p:cNvSpPr txBox="1"/>
          <p:nvPr/>
        </p:nvSpPr>
        <p:spPr>
          <a:xfrm>
            <a:off x="838199" y="2420942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El sistema requiere una base de datos que permita almacenar y gestionar de forma eficiente la información relacionada con los usuarios, las preguntas y las partidas del juego.</a:t>
            </a:r>
            <a:b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Al tratarse de una aplicación multiplataforma con posibles accesos simultáneos, la base de datos debe ofrecer: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95684D-3A4F-C296-3328-033D59F3D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7684"/>
            <a:ext cx="5257799" cy="576262"/>
          </a:xfrm>
        </p:spPr>
        <p:txBody>
          <a:bodyPr/>
          <a:lstStyle/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Requisitos de la Base de Datos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E061FD1-7BD9-59F7-B095-D3A23EF95040}"/>
              </a:ext>
            </a:extLst>
          </p:cNvPr>
          <p:cNvSpPr txBox="1"/>
          <p:nvPr/>
        </p:nvSpPr>
        <p:spPr>
          <a:xfrm>
            <a:off x="838198" y="3698883"/>
            <a:ext cx="10515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Alta disponibilidad y escalabilidad.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Almacenamiento flexible, que permita manejar documentos con diferentes estructuras según las necesidades del juego.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Rápido acceso y consultas eficientes, especialmente para operaciones frecuentes como obtener preguntas, registrar resultados o actualizar estadísticas.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Facilidad de integración con .NET MAUI y Android Studio mediante controladores oficiales.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Seguridad mediante autenticación y cifrado de las conexiones, gestionadas por el propio servicio.</a:t>
            </a:r>
          </a:p>
        </p:txBody>
      </p:sp>
    </p:spTree>
    <p:extLst>
      <p:ext uri="{BB962C8B-B14F-4D97-AF65-F5344CB8AC3E}">
        <p14:creationId xmlns:p14="http://schemas.microsoft.com/office/powerpoint/2010/main" val="132790814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3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1E2C-0B07-ED60-F6B8-BF6054F3F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EAECCB0-5C7D-4228-ACCB-DE5BF2D9822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AFA7123-49C2-7671-8108-A622680197D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D03C81F-E953-957A-CCF4-BE5CB5F8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4. Diseño de la Base de Datos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5FB02548-05BC-EB81-B0D0-5E819764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Álvaro Carrión Iniesta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36F8965-65D7-647D-75DA-4480C5B1C2D2}"/>
              </a:ext>
            </a:extLst>
          </p:cNvPr>
          <p:cNvSpPr txBox="1"/>
          <p:nvPr/>
        </p:nvSpPr>
        <p:spPr>
          <a:xfrm>
            <a:off x="838199" y="2420942"/>
            <a:ext cx="7315201" cy="3669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La elección de MongoDB Atlas la aplicación de Windows y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Firebase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Realtime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Database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para Android como sistemas de gestión de bases de datos se debe a la capacidad para ofrecer una solución flexible, escalable y altamente disponible, adaptada a las necesidades de unas aplicaciones con accesos concurrentes.</a:t>
            </a:r>
          </a:p>
          <a:p>
            <a:pPr algn="just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eato Display" panose="020B0503000000020004" pitchFamily="34" charset="0"/>
            </a:endParaRPr>
          </a:p>
          <a:p>
            <a:pPr algn="just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El modelo documental permite almacenar información heterogénea sin necesidad de estructuras rígidas, facilitando la evolución del proyecto.</a:t>
            </a:r>
          </a:p>
          <a:p>
            <a:pPr algn="just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Además, tienen un gran rendimiento en consultas frecuentes, la facilidad de integración con .NET MAUI o Android Studio y las medidas de seguridad incorporadas, como la autenticación y el cifrado de conexiones, garantizan una gestión eficiente y segura de los datos.</a:t>
            </a:r>
          </a:p>
          <a:p>
            <a:pPr algn="just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eato Display" panose="020B0503000000020004" pitchFamily="34" charset="0"/>
            </a:endParaRPr>
          </a:p>
          <a:p>
            <a:pPr algn="just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Por todo ello, MongoDB Atlas y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Realtime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Database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se presentan como una opción adecuada y coherente para el desarrollo de la aplicación.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012648-0B12-331E-F6A6-3635DBB30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7684"/>
            <a:ext cx="6560127" cy="576262"/>
          </a:xfrm>
        </p:spPr>
        <p:txBody>
          <a:bodyPr/>
          <a:lstStyle/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Elección de Bases de Datos</a:t>
            </a:r>
          </a:p>
        </p:txBody>
      </p:sp>
      <p:pic>
        <p:nvPicPr>
          <p:cNvPr id="2054" name="Picture 6" descr="Launching a MongoDB Cluster Using Atlas: A Step-by-Step Guide | by @Harsh |  Medium">
            <a:extLst>
              <a:ext uri="{FF2B5EF4-FFF2-40B4-BE49-F238E27FC236}">
                <a16:creationId xmlns:a16="http://schemas.microsoft.com/office/drawing/2014/main" id="{F643E979-34F2-D6D2-AD9C-C807CC61B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291" y="2686649"/>
            <a:ext cx="2819111" cy="1059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Qué es Firebase? – Indalcasa">
            <a:extLst>
              <a:ext uri="{FF2B5EF4-FFF2-40B4-BE49-F238E27FC236}">
                <a16:creationId xmlns:a16="http://schemas.microsoft.com/office/drawing/2014/main" id="{800D764A-4FB7-128F-74F6-6F469C2E0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307" y="3745734"/>
            <a:ext cx="3903080" cy="1886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81748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" dur="1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2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B7FE5-A221-037B-CBF2-C1BB75C4E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8BD8C199-BAC3-131F-E2AE-865A306B73D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3C12790-ACD5-8B33-7F71-38204F16D73C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9F0476-AA86-893E-4AD8-282E59494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4. Diseño de la Base de Datos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016BA312-BF35-8CDF-9542-D3E00F0C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Álvaro Carrión Iniesta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D961A00-AE36-7996-ADC4-F4851DC13AF2}"/>
              </a:ext>
            </a:extLst>
          </p:cNvPr>
          <p:cNvSpPr txBox="1"/>
          <p:nvPr/>
        </p:nvSpPr>
        <p:spPr>
          <a:xfrm>
            <a:off x="838199" y="2420942"/>
            <a:ext cx="52577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Para cumplir los objetivos del proyecto, la base de datos debe permitir gestionar las siguientes entidades principales: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Usuarios: cada jugador tendrá una cuenta con sus credenciales y estadísticas personales.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Preguntas: conjunto de preguntas clasificadas por categoría y tópico.</a:t>
            </a:r>
          </a:p>
          <a:p>
            <a:pPr lvl="0" algn="just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eato Display" panose="020B0503000000020004" pitchFamily="34" charset="0"/>
            </a:endParaRPr>
          </a:p>
          <a:p>
            <a:pPr algn="just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Cada una de estas entidades se representará mediante colecciones en MongoDB.</a:t>
            </a:r>
          </a:p>
          <a:p>
            <a:pPr algn="just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eato Display" panose="020B0503000000020004" pitchFamily="34" charset="0"/>
            </a:endParaRPr>
          </a:p>
          <a:p>
            <a:pPr algn="just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Aunque MongoDB no utiliza un modelo relacional tradicional, se puede representar conceptualmente mediante un modelo E-R adaptado.</a:t>
            </a:r>
          </a:p>
          <a:p>
            <a:pPr algn="just"/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eato Display" panose="020B05030000000200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C80AD8-D9A3-FAB0-D57F-1A4C4A52F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7684"/>
            <a:ext cx="5257799" cy="576262"/>
          </a:xfrm>
        </p:spPr>
        <p:txBody>
          <a:bodyPr/>
          <a:lstStyle/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Diseño Conceptual y Diseño Lógico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E4CB23-8D9C-DB64-03E6-5EB2A7479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907" y="2055815"/>
            <a:ext cx="4100486" cy="393707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0766010-2753-A7BE-0D9B-535D039E3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527" y="3180271"/>
            <a:ext cx="3813697" cy="28136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96984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C964F-87A3-C133-A29B-83807D1F4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1072885-00EC-968B-E8C0-DA8A5D3F26D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7842A47-6C35-67CA-4717-E3367D6D658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8EA66DB-A6CE-74FE-5F91-B5FC3DBA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4. Diseño de la Base de Datos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E3D004A-70FE-43A1-C362-E62567782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Álvaro Carrión Iniesta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4F3482-F406-FAA9-F92D-C4E0AAE63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7684"/>
            <a:ext cx="5257799" cy="576262"/>
          </a:xfrm>
        </p:spPr>
        <p:txBody>
          <a:bodyPr/>
          <a:lstStyle/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Relaciones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70E4689C-B1A0-F6CF-7C20-089F0F940F0F}"/>
              </a:ext>
            </a:extLst>
          </p:cNvPr>
          <p:cNvSpPr txBox="1">
            <a:spLocks/>
          </p:cNvSpPr>
          <p:nvPr/>
        </p:nvSpPr>
        <p:spPr>
          <a:xfrm>
            <a:off x="7249560" y="1767684"/>
            <a:ext cx="5257799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Conclusión del Diseño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0C78EA-EAD0-3200-280B-B0F424572D4E}"/>
              </a:ext>
            </a:extLst>
          </p:cNvPr>
          <p:cNvSpPr txBox="1"/>
          <p:nvPr/>
        </p:nvSpPr>
        <p:spPr>
          <a:xfrm>
            <a:off x="7249561" y="2274838"/>
            <a:ext cx="41042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El modelo propuesto permite almacenar los datos de forma estructurada y flexible.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El uso de documentos anidados y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arrays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simplifica la gestión de datos relacionados reduciendo la necesidad de realizar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joins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complejos.</a:t>
            </a:r>
          </a:p>
          <a:p>
            <a:pPr algn="just"/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Además, la integración con MongoDB Atlas o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Firebase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facilita la administración, escalado y seguridad del sistema, ofreciendo una base sólida y moderna para el desarrollo de la aplicación.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334477-46CA-F16B-C9F8-4990F73EA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64" y="2343946"/>
            <a:ext cx="6248072" cy="309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5625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19D13-D9E8-4CD4-69CF-E84188E6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B672D1F-D88D-32DC-7678-DD2FBAB0D6A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6844C72-37DD-102D-309E-75C1A4E5EBE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BF78CD2-E9DE-1626-C4C0-26F1987E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5. Desarrollo de Concurrencia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6CE6122D-50AC-C41C-FF0D-14A95786C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Álvaro Carrión Iniesta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BC9C8C-3B12-77CF-6F34-FEEA620B3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7684"/>
            <a:ext cx="3556575" cy="576262"/>
          </a:xfrm>
        </p:spPr>
        <p:txBody>
          <a:bodyPr/>
          <a:lstStyle/>
          <a:p>
            <a:r>
              <a:rPr lang="es-ES" sz="16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Gestión de Concurrencia en Partidas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EB2BD6FD-1CB8-D3E9-F98B-7ED1A64DB43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38200" y="2420941"/>
            <a:ext cx="3556575" cy="3933337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Durante una partida multijugador, varios usuarios acceden de forma concurrente a los mismos recursos del sistema.</a:t>
            </a:r>
            <a:b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</a:b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Para garantizar la sincronización, el servidor de la aplicación implementará las siguientes estrategias: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Control de sesiones concurrentes: cada partida se identifica mediante un ID de partida único.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Gestionar quién es el que responde primero, actuar como árbitro procesando las respuestas que llegan a la red.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Actualización concurrente en base de datos: MongoDB Atlas gestiona las escrituras concurrentes mediante operaciones atómicas, garantizando la integridad de los datos.</a:t>
            </a:r>
          </a:p>
          <a:p>
            <a:pPr algn="just"/>
            <a:endParaRPr lang="es-E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eato Display" panose="020B0503000000020004" pitchFamily="34" charset="0"/>
            </a:endParaRPr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7CB615A0-A887-3C68-9C47-B6A97B24D260}"/>
              </a:ext>
            </a:extLst>
          </p:cNvPr>
          <p:cNvSpPr txBox="1">
            <a:spLocks/>
          </p:cNvSpPr>
          <p:nvPr/>
        </p:nvSpPr>
        <p:spPr>
          <a:xfrm>
            <a:off x="4394775" y="2423013"/>
            <a:ext cx="3402447" cy="39333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 nivel técnico, la concurrencia se controlará mediante: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Manejo de hilos (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threads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) en la comunicación de red, de forma que cada conexión de usuario se gestione en un hilo independiente.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Uso de colecciones de datos seguras para almacenar sesiones y jugadores activos.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Bloqueos sincronizados (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locks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) cuando dos procesos intenten modificar simultáneamente un mismo documento (por ejemplo, la estadística de un jugador).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Comunicación asíncrona (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async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/</a:t>
            </a:r>
            <a:r>
              <a:rPr lang="es-E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await</a:t>
            </a: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) para evitar bloqueos en la interfaz gráfica mientras se esperan respuestas del servidor o la base de datos.</a:t>
            </a:r>
          </a:p>
          <a:p>
            <a:pPr algn="just"/>
            <a:endParaRPr lang="es-E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eato Display" panose="020B0503000000020004" pitchFamily="34" charset="0"/>
            </a:endParaRPr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BE2F3D6E-A802-E637-E483-23EEA12C2E59}"/>
              </a:ext>
            </a:extLst>
          </p:cNvPr>
          <p:cNvSpPr txBox="1">
            <a:spLocks/>
          </p:cNvSpPr>
          <p:nvPr/>
        </p:nvSpPr>
        <p:spPr>
          <a:xfrm>
            <a:off x="7797222" y="2420941"/>
            <a:ext cx="3556575" cy="3746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Mejora la experiencia de usuario, permitiendo partidas fluidas y sin interrupciones.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Garantiza la consistencia de los datos en el almacenamiento.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Permite escalar el sistema, soportando un número mayor de usuarios conectados simultáneamente.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Favorece el rendimiento general de la aplicación, ya que las tareas se ejecutan en paralelo de forma controlada.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s-E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eato Display" panose="020B0503000000020004" pitchFamily="34" charset="0"/>
            </a:endParaRP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B232AC80-1B85-3B22-DF11-40F76E7DF604}"/>
              </a:ext>
            </a:extLst>
          </p:cNvPr>
          <p:cNvSpPr txBox="1">
            <a:spLocks/>
          </p:cNvSpPr>
          <p:nvPr/>
        </p:nvSpPr>
        <p:spPr>
          <a:xfrm>
            <a:off x="4394775" y="1767684"/>
            <a:ext cx="3556575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Estrategias Técnicas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76C66140-1AA0-305D-DECE-C57081E22BEE}"/>
              </a:ext>
            </a:extLst>
          </p:cNvPr>
          <p:cNvSpPr txBox="1">
            <a:spLocks/>
          </p:cNvSpPr>
          <p:nvPr/>
        </p:nvSpPr>
        <p:spPr>
          <a:xfrm>
            <a:off x="7797222" y="1767683"/>
            <a:ext cx="3556575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Beneficios de la Concurrencia</a:t>
            </a:r>
          </a:p>
        </p:txBody>
      </p:sp>
    </p:spTree>
    <p:extLst>
      <p:ext uri="{BB962C8B-B14F-4D97-AF65-F5344CB8AC3E}">
        <p14:creationId xmlns:p14="http://schemas.microsoft.com/office/powerpoint/2010/main" val="299799145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uiExpand="1" build="p"/>
      <p:bldP spid="6" grpId="0"/>
      <p:bldP spid="7" grpId="0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7294C-1D38-9FC1-0EE0-F6EC96B3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29388892-3C55-F269-19F1-203F940EA19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00F0DA3-8725-FED0-D8EC-FBAC28E356B1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8C1D269-B14A-BEC4-D4EB-B217E9B06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6. Empresa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90B6BBB3-BEEA-BAF7-564D-A84412142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Álvaro Carrión Iniesta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33407EAC-FCF2-30C4-2617-C0F4ADF10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7684"/>
            <a:ext cx="6652491" cy="576262"/>
          </a:xfrm>
        </p:spPr>
        <p:txBody>
          <a:bodyPr/>
          <a:lstStyle/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Concepto de Negocio y Estrategia de Mercado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CFEF26E-B6E5-0A35-2ED3-E80E4894BF5C}"/>
              </a:ext>
            </a:extLst>
          </p:cNvPr>
          <p:cNvSpPr txBox="1"/>
          <p:nvPr/>
        </p:nvSpPr>
        <p:spPr>
          <a:xfrm>
            <a:off x="838201" y="2420942"/>
            <a:ext cx="10515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Proyecto y Emprendedor: Pole Position Quiz es una aplicación de trivia especializada en Fórmula 1 que combina gamificación, aprendizaje y competición. El proyecto está liderado por Álvaro Carrión, con formación técnica en DAM y SMR.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502C0B5-E12B-94B4-6641-0F40E460FDC7}"/>
              </a:ext>
            </a:extLst>
          </p:cNvPr>
          <p:cNvSpPr txBox="1"/>
          <p:nvPr/>
        </p:nvSpPr>
        <p:spPr>
          <a:xfrm>
            <a:off x="838200" y="3021158"/>
            <a:ext cx="10515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Valor Diferencial: A diferencia de las apps de trivia genéricas, PPQ ofrece especialización temática profunda, diseño inmersivo inspirado en el automovilismo y contenido actualizado según la temporada.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1DBBC4C-E28D-ADB0-5473-35EE2399F9B4}"/>
              </a:ext>
            </a:extLst>
          </p:cNvPr>
          <p:cNvSpPr txBox="1"/>
          <p:nvPr/>
        </p:nvSpPr>
        <p:spPr>
          <a:xfrm>
            <a:off x="838200" y="3621374"/>
            <a:ext cx="10515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Misión y Visión: Ser la referencia en trivia deportiva de F1, fomentando un ocio digital saludable y el aprendizaje informal mediante el entretenimiento (</a:t>
            </a: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edutainment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).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3787BDE-B7CE-F82B-6956-56E23EE5FB39}"/>
              </a:ext>
            </a:extLst>
          </p:cNvPr>
          <p:cNvSpPr txBox="1"/>
          <p:nvPr/>
        </p:nvSpPr>
        <p:spPr>
          <a:xfrm>
            <a:off x="838199" y="4221590"/>
            <a:ext cx="10515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Marketing (Estrategia Freemium):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Precio: Acceso gratuito con opciones de pago para eliminar publicidad o acceder a funciones premium.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Promoción: Enfoque en redes sociales (TikTok, Instagram) y colaboraciones con creadores de contenido de F1 para captar al público joven.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Distribución: Multiplataforma a través de Google Play, Apple Store, </a:t>
            </a: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Steam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y </a:t>
            </a: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Epic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 </a:t>
            </a: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Games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504207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86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561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712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build="p"/>
      <p:bldP spid="17" grpId="0"/>
      <p:bldP spid="18" grpId="0"/>
      <p:bldP spid="19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6E95-6C7B-F71F-DEBA-D9AD56363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4C52D511-EE3C-0AB9-545D-813A0501CE9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F7BD8CB-9A66-7C82-BAAB-F7043AD406F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903708-6864-F929-D47E-ABCB2FF7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6. Empresa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D3B28BA-7B8A-5CBA-1FF0-3BB9B9CCB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Álvaro Carrión Iniesta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60408DCF-C82C-8F18-A16C-4BADDC4AA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7684"/>
            <a:ext cx="6652491" cy="576262"/>
          </a:xfrm>
        </p:spPr>
        <p:txBody>
          <a:bodyPr/>
          <a:lstStyle/>
          <a:p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ageo" pitchFamily="2" charset="0"/>
              </a:rPr>
              <a:t>Recursos Humanos y Viabilidad Económica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5D5A25B-39B4-260D-6F7B-A0A9F3C509F8}"/>
              </a:ext>
            </a:extLst>
          </p:cNvPr>
          <p:cNvSpPr txBox="1"/>
          <p:nvPr/>
        </p:nvSpPr>
        <p:spPr>
          <a:xfrm>
            <a:off x="838201" y="2420942"/>
            <a:ext cx="10515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Estructura Organizativa: Inicialmente es un modelo de autoempleo donde el promotor asume la dirección, producción (desarrollo y contenidos) y administración.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3ADE210-BA85-EBB6-3F47-664957D7B67F}"/>
              </a:ext>
            </a:extLst>
          </p:cNvPr>
          <p:cNvSpPr txBox="1"/>
          <p:nvPr/>
        </p:nvSpPr>
        <p:spPr>
          <a:xfrm>
            <a:off x="838201" y="3021158"/>
            <a:ext cx="105155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Inversión inicial: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Inversión total necesaria: 26.820 €.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Bienes principales: Equipos informáticos (3.633 €) y mobiliario (1.889 €).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99E7A0-185D-22C5-2B31-549FFE307E11}"/>
              </a:ext>
            </a:extLst>
          </p:cNvPr>
          <p:cNvSpPr txBox="1"/>
          <p:nvPr/>
        </p:nvSpPr>
        <p:spPr>
          <a:xfrm>
            <a:off x="838201" y="3836818"/>
            <a:ext cx="10515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Plan de Financiación: Combinación de recursos propios (12.200 €), préstamos familiares (2.200 €), ayudas públicas y microcrédito bancario (3.000 €).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FDABF73-09C1-5004-CE4D-F723FFFDCEB4}"/>
              </a:ext>
            </a:extLst>
          </p:cNvPr>
          <p:cNvSpPr txBox="1"/>
          <p:nvPr/>
        </p:nvSpPr>
        <p:spPr>
          <a:xfrm>
            <a:off x="838200" y="4437034"/>
            <a:ext cx="10515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Análisis de Viabilidad (Primer Año):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Ingresos previstos: 68.455 € por ventas/servicios.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Gastos de explotación: 56.725 €, destacando los costes de personal y mantenimiento tecnológico.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o Display" panose="020B0503000000020004" pitchFamily="34" charset="0"/>
              </a:rPr>
              <a:t>Resultado Final: El plan de tesorería muestra un saldo positivo en caja al finalizar el año de 24.895,31 €, lo que confirma la solvencia y liquidez del proyecto.</a:t>
            </a:r>
          </a:p>
        </p:txBody>
      </p:sp>
    </p:spTree>
    <p:extLst>
      <p:ext uri="{BB962C8B-B14F-4D97-AF65-F5344CB8AC3E}">
        <p14:creationId xmlns:p14="http://schemas.microsoft.com/office/powerpoint/2010/main" val="324807199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86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11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912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build="p"/>
      <p:bldP spid="17" grpId="0"/>
      <p:bldP spid="20" grpId="0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2961F-74C9-3925-6DDC-5CD0C794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42033A4B-ED61-3E65-A91B-A26358EB97B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7C37E07-8865-F271-743A-E2DB68E9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3BA8C4-CDA8-873C-3950-BC2842034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S" sz="4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mula1 Display Regular" panose="02000000000000000000" pitchFamily="2" charset="0"/>
              </a:rPr>
              <a:t>Demostraciones y Preguntas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64780F1-E8EF-E6E2-9CA5-E78DC2E7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Álvaro Carrión Iniesta</a:t>
            </a:r>
          </a:p>
        </p:txBody>
      </p:sp>
    </p:spTree>
    <p:extLst>
      <p:ext uri="{BB962C8B-B14F-4D97-AF65-F5344CB8AC3E}">
        <p14:creationId xmlns:p14="http://schemas.microsoft.com/office/powerpoint/2010/main" val="201754400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E11E7-A202-3D2C-1F08-FF2567BCC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B7FA6BB-6918-CBDA-46FC-73E795260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26" b="29428"/>
          <a:stretch>
            <a:fillRect/>
          </a:stretch>
        </p:blipFill>
        <p:spPr>
          <a:xfrm>
            <a:off x="3064163" y="2918685"/>
            <a:ext cx="6063673" cy="376070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DC67E26-FD74-43AE-C2F0-B57DE95D261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rot="10800000" flipH="1">
            <a:off x="0" y="-1"/>
            <a:ext cx="12192000" cy="767357"/>
          </a:xfrm>
          <a:prstGeom prst="rect">
            <a:avLst/>
          </a:prstGeom>
          <a:noFill/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AAD51E8-6FA1-7187-9E6A-BE8EE100629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r="1060"/>
          <a:stretch>
            <a:fillRect/>
          </a:stretch>
        </p:blipFill>
        <p:spPr>
          <a:xfrm flipH="1">
            <a:off x="0" y="6090643"/>
            <a:ext cx="12192000" cy="767357"/>
          </a:xfrm>
          <a:prstGeom prst="rect">
            <a:avLst/>
          </a:prstGeom>
          <a:noFill/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52DA47D-5705-6F3A-57B3-BAC97516E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5" b="73334"/>
          <a:stretch>
            <a:fillRect/>
          </a:stretch>
        </p:blipFill>
        <p:spPr>
          <a:xfrm>
            <a:off x="2438399" y="507998"/>
            <a:ext cx="7315202" cy="177338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048B381-CB1E-18DE-339C-C8DF6B84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61" b="20135"/>
          <a:stretch>
            <a:fillRect/>
          </a:stretch>
        </p:blipFill>
        <p:spPr>
          <a:xfrm>
            <a:off x="3809999" y="2213407"/>
            <a:ext cx="4572000" cy="51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8439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ofundidad">
  <a:themeElements>
    <a:clrScheme name="Personalizado 1">
      <a:dk1>
        <a:sysClr val="windowText" lastClr="000000"/>
      </a:dk1>
      <a:lt1>
        <a:sysClr val="window" lastClr="FFFFFF"/>
      </a:lt1>
      <a:dk2>
        <a:srgbClr val="E33120"/>
      </a:dk2>
      <a:lt2>
        <a:srgbClr val="E7E6E6"/>
      </a:lt2>
      <a:accent1>
        <a:srgbClr val="EE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EE0000"/>
      </a:accent5>
      <a:accent6>
        <a:srgbClr val="FFFFFF"/>
      </a:accent6>
      <a:hlink>
        <a:srgbClr val="0563C1"/>
      </a:hlink>
      <a:folHlink>
        <a:srgbClr val="48A1FA"/>
      </a:folHlink>
    </a:clrScheme>
    <a:fontScheme name="Profundidad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1965</TotalTime>
  <Words>2063</Words>
  <Application>Microsoft Office PowerPoint</Application>
  <PresentationFormat>Panorámica</PresentationFormat>
  <Paragraphs>162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Calibri</vt:lpstr>
      <vt:lpstr>Corbel</vt:lpstr>
      <vt:lpstr>Creato Display</vt:lpstr>
      <vt:lpstr>Formula1 Display Regular</vt:lpstr>
      <vt:lpstr>Unageo</vt:lpstr>
      <vt:lpstr>Wingdings</vt:lpstr>
      <vt:lpstr>Profundidad</vt:lpstr>
      <vt:lpstr>Presentación de PowerPoint</vt:lpstr>
      <vt:lpstr>Introducción</vt:lpstr>
      <vt:lpstr>Valor Aportado</vt:lpstr>
      <vt:lpstr>1. Objetivos</vt:lpstr>
      <vt:lpstr>2. Desarrollo del Trabajo</vt:lpstr>
      <vt:lpstr>3. Diagrama de Casos de Uso</vt:lpstr>
      <vt:lpstr>3. Diagrama de Casos de Uso</vt:lpstr>
      <vt:lpstr>3. Diagrama de Casos de Uso</vt:lpstr>
      <vt:lpstr>4. Diseño de la Base de Datos</vt:lpstr>
      <vt:lpstr>4. Diseño de la Base de Datos</vt:lpstr>
      <vt:lpstr>4. Diseño de la Base de Datos</vt:lpstr>
      <vt:lpstr>4. Diseño de la Base de Datos</vt:lpstr>
      <vt:lpstr>5. Desarrollo de Concurrencia</vt:lpstr>
      <vt:lpstr>6. Empresa</vt:lpstr>
      <vt:lpstr>6. Empresa</vt:lpstr>
      <vt:lpstr>Demostraciones y Preguntas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Alvaro Carrion Iniesta</dc:creator>
  <cp:lastModifiedBy>Alvaro Carrion Iniesta</cp:lastModifiedBy>
  <cp:revision>7</cp:revision>
  <dcterms:created xsi:type="dcterms:W3CDTF">2026-03-09T15:41:19Z</dcterms:created>
  <dcterms:modified xsi:type="dcterms:W3CDTF">2026-03-15T15:17:06Z</dcterms:modified>
</cp:coreProperties>
</file>